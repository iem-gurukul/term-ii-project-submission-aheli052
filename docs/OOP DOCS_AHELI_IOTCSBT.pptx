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79A46-F68F-41A1-9780-28BE08122DB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EF75-A7AB-4093-BE67-0DE7DD194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669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79A46-F68F-41A1-9780-28BE08122DB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EF75-A7AB-4093-BE67-0DE7DD194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2830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79A46-F68F-41A1-9780-28BE08122DB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EF75-A7AB-4093-BE67-0DE7DD194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136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79A46-F68F-41A1-9780-28BE08122DB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EF75-A7AB-4093-BE67-0DE7DD194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996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79A46-F68F-41A1-9780-28BE08122DB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EF75-A7AB-4093-BE67-0DE7DD194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457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79A46-F68F-41A1-9780-28BE08122DB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EF75-A7AB-4093-BE67-0DE7DD194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9835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79A46-F68F-41A1-9780-28BE08122DB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EF75-A7AB-4093-BE67-0DE7DD194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6125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79A46-F68F-41A1-9780-28BE08122DB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EF75-A7AB-4093-BE67-0DE7DD194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0739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79A46-F68F-41A1-9780-28BE08122DB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EF75-A7AB-4093-BE67-0DE7DD194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64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79A46-F68F-41A1-9780-28BE08122DB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EF75-A7AB-4093-BE67-0DE7DD194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230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79A46-F68F-41A1-9780-28BE08122DB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EF75-A7AB-4093-BE67-0DE7DD194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869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779A46-F68F-41A1-9780-28BE08122DB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0EF75-A7AB-4093-BE67-0DE7DD194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9448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9F770-D847-7AE6-0190-0E54F7696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9070"/>
            <a:ext cx="9306232" cy="1670001"/>
          </a:xfrm>
          <a:ln w="57150"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algn="l"/>
            <a:r>
              <a:rPr lang="en-US" sz="2800" b="1" u="sng" dirty="0">
                <a:solidFill>
                  <a:schemeClr val="accent6"/>
                </a:solidFill>
                <a:latin typeface="+mn-lt"/>
              </a:rPr>
              <a:t>TITLE :</a:t>
            </a:r>
            <a:r>
              <a:rPr lang="en-US" sz="2800" b="1" dirty="0">
                <a:solidFill>
                  <a:schemeClr val="accent6"/>
                </a:solidFill>
                <a:latin typeface="+mn-lt"/>
              </a:rPr>
              <a:t> </a:t>
            </a:r>
            <a:r>
              <a:rPr lang="en-US" sz="2800" b="1" dirty="0">
                <a:latin typeface="+mn-lt"/>
              </a:rPr>
              <a:t>Technical Documentation &amp; UML Diagrams Advanced Programming Project: Phase 1</a:t>
            </a:r>
            <a:br>
              <a:rPr lang="en-US" sz="2800" b="1" dirty="0">
                <a:latin typeface="+mn-lt"/>
              </a:rPr>
            </a:br>
            <a:endParaRPr lang="en-IN" sz="2800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46B092-2A47-26E0-B0D9-F21542FC9E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49677"/>
            <a:ext cx="9306232" cy="3179253"/>
          </a:xfrm>
          <a:ln w="38100"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algn="l"/>
            <a:r>
              <a:rPr kumimoji="0" 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PROJECT NAME :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Student Attendance Management System</a:t>
            </a:r>
          </a:p>
          <a:p>
            <a:pPr algn="l"/>
            <a:r>
              <a:rPr kumimoji="0" 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PRESENTED BY: 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Aheli Bhaumik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kumimoji="0" 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ENROLLMENT NO.: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12024052017025</a:t>
            </a:r>
            <a:b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kumimoji="0" 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STREAM: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CSE [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IoTCSBT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]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kumimoji="0" 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CLASS ROLL NO.: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08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kumimoji="0" 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COLLEGE: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Institute Of Engineering &amp;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Management,Kolkata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056873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9A867-3149-6703-FB2A-0F4226E1A739}"/>
              </a:ext>
            </a:extLst>
          </p:cNvPr>
          <p:cNvSpPr>
            <a:spLocks noGrp="1"/>
          </p:cNvSpPr>
          <p:nvPr>
            <p:ph type="title"/>
          </p:nvPr>
        </p:nvSpPr>
        <p:spPr>
          <a:ln w="76200">
            <a:solidFill>
              <a:srgbClr val="C00000"/>
            </a:solidFill>
          </a:ln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chemeClr val="accent6"/>
                </a:solidFill>
              </a:rPr>
              <a:t>UML CLASS DIAGRAM: OBJECT-ORIENTED STRUCTURE</a:t>
            </a:r>
            <a:endParaRPr lang="en-IN" sz="3600" b="1" u="sng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05FD7-BF90-8DB2-13AD-A02AB0C66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40646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D3BEE3-975C-5682-B84D-21FC9AAA503E}"/>
              </a:ext>
            </a:extLst>
          </p:cNvPr>
          <p:cNvSpPr/>
          <p:nvPr/>
        </p:nvSpPr>
        <p:spPr>
          <a:xfrm>
            <a:off x="5063613" y="2270023"/>
            <a:ext cx="2428568" cy="1012722"/>
          </a:xfrm>
          <a:prstGeom prst="rect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rgbClr val="FF0000"/>
                </a:solidFill>
              </a:rPr>
              <a:t>Person (Parent Class)</a:t>
            </a:r>
          </a:p>
          <a:p>
            <a:r>
              <a:rPr lang="en-IN" sz="1600" b="1" dirty="0">
                <a:solidFill>
                  <a:srgbClr val="FF0000"/>
                </a:solidFill>
              </a:rPr>
              <a:t>+ String name</a:t>
            </a:r>
          </a:p>
          <a:p>
            <a:r>
              <a:rPr lang="en-IN" sz="1600" b="1" dirty="0">
                <a:solidFill>
                  <a:srgbClr val="FF0000"/>
                </a:solidFill>
              </a:rPr>
              <a:t>+ int id</a:t>
            </a:r>
          </a:p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7EE88E-36D6-7192-F3E7-3B8F1A9CE431}"/>
              </a:ext>
            </a:extLst>
          </p:cNvPr>
          <p:cNvSpPr/>
          <p:nvPr/>
        </p:nvSpPr>
        <p:spPr>
          <a:xfrm>
            <a:off x="2526890" y="3429000"/>
            <a:ext cx="2428568" cy="1172497"/>
          </a:xfrm>
          <a:prstGeom prst="rect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200" b="1" dirty="0">
                <a:solidFill>
                  <a:srgbClr val="C00000"/>
                </a:solidFill>
              </a:rPr>
              <a:t>Student (Child Class)</a:t>
            </a:r>
          </a:p>
          <a:p>
            <a:r>
              <a:rPr lang="en-IN" sz="1200" b="1" dirty="0">
                <a:solidFill>
                  <a:srgbClr val="C00000"/>
                </a:solidFill>
              </a:rPr>
              <a:t>+ double </a:t>
            </a:r>
            <a:r>
              <a:rPr lang="en-IN" sz="1200" b="1" dirty="0" err="1">
                <a:solidFill>
                  <a:srgbClr val="C00000"/>
                </a:solidFill>
              </a:rPr>
              <a:t>attendancePercentage</a:t>
            </a:r>
            <a:endParaRPr lang="en-IN" sz="1200" b="1" dirty="0">
              <a:solidFill>
                <a:srgbClr val="C00000"/>
              </a:solidFill>
            </a:endParaRPr>
          </a:p>
          <a:p>
            <a:r>
              <a:rPr lang="en-IN" sz="1200" b="1" dirty="0">
                <a:solidFill>
                  <a:srgbClr val="C00000"/>
                </a:solidFill>
              </a:rPr>
              <a:t>+ void </a:t>
            </a:r>
            <a:r>
              <a:rPr lang="en-IN" sz="1200" b="1" dirty="0" err="1">
                <a:solidFill>
                  <a:srgbClr val="C00000"/>
                </a:solidFill>
              </a:rPr>
              <a:t>updateAttendance</a:t>
            </a:r>
            <a:r>
              <a:rPr lang="en-IN" sz="1200" b="1" dirty="0">
                <a:solidFill>
                  <a:srgbClr val="C00000"/>
                </a:solidFill>
              </a:rPr>
              <a:t>()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D59AEB-9FDD-4A0D-6C0A-AC104BF8E5C2}"/>
              </a:ext>
            </a:extLst>
          </p:cNvPr>
          <p:cNvSpPr/>
          <p:nvPr/>
        </p:nvSpPr>
        <p:spPr>
          <a:xfrm>
            <a:off x="7580671" y="3429000"/>
            <a:ext cx="2428568" cy="1172497"/>
          </a:xfrm>
          <a:prstGeom prst="rect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400" b="1" dirty="0">
                <a:solidFill>
                  <a:srgbClr val="C00000"/>
                </a:solidFill>
              </a:rPr>
              <a:t>Teacher (Child Class)</a:t>
            </a:r>
          </a:p>
          <a:p>
            <a:r>
              <a:rPr lang="en-IN" sz="1400" b="1" dirty="0">
                <a:solidFill>
                  <a:srgbClr val="C00000"/>
                </a:solidFill>
              </a:rPr>
              <a:t>+ String department</a:t>
            </a:r>
          </a:p>
          <a:p>
            <a:r>
              <a:rPr lang="en-IN" sz="1400" b="1" dirty="0">
                <a:solidFill>
                  <a:srgbClr val="C00000"/>
                </a:solidFill>
              </a:rPr>
              <a:t>+ void </a:t>
            </a:r>
            <a:r>
              <a:rPr lang="en-IN" sz="1400" b="1" dirty="0" err="1">
                <a:solidFill>
                  <a:srgbClr val="C00000"/>
                </a:solidFill>
              </a:rPr>
              <a:t>viewAttendance</a:t>
            </a:r>
            <a:r>
              <a:rPr lang="en-IN" sz="1400" b="1" dirty="0">
                <a:solidFill>
                  <a:srgbClr val="C00000"/>
                </a:solidFill>
              </a:rPr>
              <a:t>()</a:t>
            </a:r>
          </a:p>
        </p:txBody>
      </p:sp>
      <p:sp>
        <p:nvSpPr>
          <p:cNvPr id="7" name="Arrow: Bent 6">
            <a:extLst>
              <a:ext uri="{FF2B5EF4-FFF2-40B4-BE49-F238E27FC236}">
                <a16:creationId xmlns:a16="http://schemas.microsoft.com/office/drawing/2014/main" id="{EDB3AE9B-B0BD-0285-A7AC-9B251D16482A}"/>
              </a:ext>
            </a:extLst>
          </p:cNvPr>
          <p:cNvSpPr/>
          <p:nvPr/>
        </p:nvSpPr>
        <p:spPr>
          <a:xfrm>
            <a:off x="3510116" y="2546555"/>
            <a:ext cx="1553497" cy="882445"/>
          </a:xfrm>
          <a:prstGeom prst="bentArrow">
            <a:avLst/>
          </a:prstGeom>
          <a:solidFill>
            <a:srgbClr val="7030A0"/>
          </a:solidFill>
          <a:ln>
            <a:solidFill>
              <a:srgbClr val="FFC000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Arrow: Bent 7">
            <a:extLst>
              <a:ext uri="{FF2B5EF4-FFF2-40B4-BE49-F238E27FC236}">
                <a16:creationId xmlns:a16="http://schemas.microsoft.com/office/drawing/2014/main" id="{E730BBB7-AAD6-354B-044B-CA78CA05BB97}"/>
              </a:ext>
            </a:extLst>
          </p:cNvPr>
          <p:cNvSpPr/>
          <p:nvPr/>
        </p:nvSpPr>
        <p:spPr>
          <a:xfrm rot="10800000" flipV="1">
            <a:off x="7492179" y="2481416"/>
            <a:ext cx="1542435" cy="947584"/>
          </a:xfrm>
          <a:prstGeom prst="bentArrow">
            <a:avLst/>
          </a:prstGeom>
          <a:solidFill>
            <a:srgbClr val="7030A0"/>
          </a:solidFill>
          <a:ln>
            <a:solidFill>
              <a:srgbClr val="FFFF00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610CCF0-7BB7-8075-2385-8FC4F2E1B7DB}"/>
              </a:ext>
            </a:extLst>
          </p:cNvPr>
          <p:cNvSpPr/>
          <p:nvPr/>
        </p:nvSpPr>
        <p:spPr>
          <a:xfrm>
            <a:off x="1288025" y="4847303"/>
            <a:ext cx="3775587" cy="155349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76200">
            <a:solidFill>
              <a:srgbClr val="002060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Design Principle: </a:t>
            </a:r>
          </a:p>
          <a:p>
            <a:pPr algn="ctr"/>
            <a:r>
              <a:rPr lang="en-US" sz="1600" b="1" dirty="0" err="1">
                <a:solidFill>
                  <a:srgbClr val="C00000"/>
                </a:solidFill>
              </a:rPr>
              <a:t>InheritanceThe</a:t>
            </a:r>
            <a:r>
              <a:rPr lang="en-US" sz="1600" b="1" dirty="0">
                <a:solidFill>
                  <a:srgbClr val="C00000"/>
                </a:solidFill>
              </a:rPr>
              <a:t> Student and Teacher classes inherit common attributes (name, id) from the Person base </a:t>
            </a:r>
            <a:r>
              <a:rPr lang="en-US" sz="1600" b="1" dirty="0" err="1">
                <a:solidFill>
                  <a:srgbClr val="C00000"/>
                </a:solidFill>
              </a:rPr>
              <a:t>class.This</a:t>
            </a:r>
            <a:r>
              <a:rPr lang="en-US" sz="1600" b="1" dirty="0">
                <a:solidFill>
                  <a:srgbClr val="C00000"/>
                </a:solidFill>
              </a:rPr>
              <a:t> reduces code redundancy and improves modularity.</a:t>
            </a:r>
            <a:endParaRPr lang="en-IN" sz="1600" b="1" dirty="0">
              <a:solidFill>
                <a:srgbClr val="C00000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7A349BC-56C0-71E7-8E82-6F287EA98347}"/>
              </a:ext>
            </a:extLst>
          </p:cNvPr>
          <p:cNvSpPr/>
          <p:nvPr/>
        </p:nvSpPr>
        <p:spPr>
          <a:xfrm>
            <a:off x="7580671" y="4847303"/>
            <a:ext cx="3598607" cy="155349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762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Design Principle: </a:t>
            </a:r>
            <a:r>
              <a:rPr lang="en-US" sz="1600" b="1" dirty="0" err="1">
                <a:solidFill>
                  <a:srgbClr val="C00000"/>
                </a:solidFill>
              </a:rPr>
              <a:t>EncapsulationAttributes</a:t>
            </a:r>
            <a:r>
              <a:rPr lang="en-US" sz="1600" b="1" dirty="0">
                <a:solidFill>
                  <a:srgbClr val="C00000"/>
                </a:solidFill>
              </a:rPr>
              <a:t> are kept private to protect data </a:t>
            </a:r>
            <a:r>
              <a:rPr lang="en-US" sz="1600" b="1" dirty="0" err="1">
                <a:solidFill>
                  <a:srgbClr val="C00000"/>
                </a:solidFill>
              </a:rPr>
              <a:t>integrity.Logic</a:t>
            </a:r>
            <a:r>
              <a:rPr lang="en-US" sz="1600" b="1" dirty="0">
                <a:solidFill>
                  <a:srgbClr val="C00000"/>
                </a:solidFill>
              </a:rPr>
              <a:t> for the 5% attendance increment and 100% boundary check is handled within class methods.</a:t>
            </a:r>
            <a:endParaRPr lang="en-IN" sz="1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673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F21CE-3A44-6E72-9422-6041B12D9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1039"/>
            <a:ext cx="10515600" cy="1325563"/>
          </a:xfrm>
          <a:ln w="76200">
            <a:solidFill>
              <a:srgbClr val="C00000"/>
            </a:solidFill>
          </a:ln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chemeClr val="accent6"/>
                </a:solidFill>
                <a:latin typeface="+mn-lt"/>
              </a:rPr>
              <a:t>SYSTEM LOGIC FLOWCHART: ATTENDANCE TRACKING</a:t>
            </a:r>
            <a:endParaRPr lang="en-IN" sz="3600" b="1" u="sng" dirty="0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D2C20-B1F2-BA25-0816-B054929AC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5334000"/>
          </a:xfrm>
          <a:ln w="57150">
            <a:solidFill>
              <a:srgbClr val="00B0F0"/>
            </a:solidFill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4B3556A-4F6B-E4E9-B285-29D05D8773B3}"/>
              </a:ext>
            </a:extLst>
          </p:cNvPr>
          <p:cNvSpPr/>
          <p:nvPr/>
        </p:nvSpPr>
        <p:spPr>
          <a:xfrm>
            <a:off x="5142269" y="1686515"/>
            <a:ext cx="1730477" cy="528227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Start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D5021BA8-8453-0152-D2F4-890234BEC09D}"/>
              </a:ext>
            </a:extLst>
          </p:cNvPr>
          <p:cNvSpPr/>
          <p:nvPr/>
        </p:nvSpPr>
        <p:spPr>
          <a:xfrm>
            <a:off x="4975122" y="2354364"/>
            <a:ext cx="2094271" cy="388605"/>
          </a:xfrm>
          <a:prstGeom prst="parallelogram">
            <a:avLst/>
          </a:prstGeom>
          <a:solidFill>
            <a:schemeClr val="accent2">
              <a:lumMod val="50000"/>
            </a:scheme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Input Student ID</a:t>
            </a:r>
            <a:endParaRPr lang="en-IN" sz="16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BB8C57-1E91-25DA-DFA1-A001CC921638}"/>
              </a:ext>
            </a:extLst>
          </p:cNvPr>
          <p:cNvSpPr/>
          <p:nvPr/>
        </p:nvSpPr>
        <p:spPr>
          <a:xfrm>
            <a:off x="4817803" y="2979989"/>
            <a:ext cx="2222090" cy="63909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Search Student in Database</a:t>
            </a:r>
            <a:endParaRPr lang="en-IN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3178AC-C52E-9F67-20DF-C94EDF87E743}"/>
              </a:ext>
            </a:extLst>
          </p:cNvPr>
          <p:cNvSpPr/>
          <p:nvPr/>
        </p:nvSpPr>
        <p:spPr>
          <a:xfrm>
            <a:off x="4817803" y="3719906"/>
            <a:ext cx="2222090" cy="5604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Current Attendance + 5%</a:t>
            </a: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1A558E51-1617-A900-D1C6-CA9249DCCB3A}"/>
              </a:ext>
            </a:extLst>
          </p:cNvPr>
          <p:cNvSpPr/>
          <p:nvPr/>
        </p:nvSpPr>
        <p:spPr>
          <a:xfrm>
            <a:off x="4645740" y="4372557"/>
            <a:ext cx="2595715" cy="936779"/>
          </a:xfrm>
          <a:prstGeom prst="diamond">
            <a:avLst/>
          </a:prstGeom>
          <a:solidFill>
            <a:srgbClr val="00206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Is Attendance &gt; 100%?".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57D4798-BF78-15C6-76C7-FCD1D6E59BF1}"/>
              </a:ext>
            </a:extLst>
          </p:cNvPr>
          <p:cNvSpPr/>
          <p:nvPr/>
        </p:nvSpPr>
        <p:spPr>
          <a:xfrm>
            <a:off x="7241455" y="4414952"/>
            <a:ext cx="1750144" cy="826833"/>
          </a:xfrm>
          <a:prstGeom prst="rightArrow">
            <a:avLst/>
          </a:prstGeom>
          <a:solidFill>
            <a:schemeClr val="tx1">
              <a:lumMod val="50000"/>
            </a:scheme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YES</a:t>
            </a:r>
            <a:endParaRPr lang="en-IN" b="1" dirty="0"/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98976D66-4349-A315-146D-67BCE77444EE}"/>
              </a:ext>
            </a:extLst>
          </p:cNvPr>
          <p:cNvSpPr/>
          <p:nvPr/>
        </p:nvSpPr>
        <p:spPr>
          <a:xfrm>
            <a:off x="2959510" y="4476145"/>
            <a:ext cx="1700980" cy="684010"/>
          </a:xfrm>
          <a:prstGeom prst="leftArrow">
            <a:avLst/>
          </a:prstGeom>
          <a:solidFill>
            <a:schemeClr val="tx1">
              <a:lumMod val="50000"/>
            </a:scheme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NO</a:t>
            </a:r>
            <a:endParaRPr lang="en-IN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266D2E-52F5-CE3F-CD27-682317F4D851}"/>
              </a:ext>
            </a:extLst>
          </p:cNvPr>
          <p:cNvSpPr/>
          <p:nvPr/>
        </p:nvSpPr>
        <p:spPr>
          <a:xfrm>
            <a:off x="8991599" y="4547256"/>
            <a:ext cx="2072146" cy="587382"/>
          </a:xfrm>
          <a:prstGeom prst="rect">
            <a:avLst/>
          </a:prstGeom>
          <a:solidFill>
            <a:schemeClr val="accent5">
              <a:lumMod val="50000"/>
            </a:scheme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Set to 100</a:t>
            </a:r>
            <a:endParaRPr lang="en-IN" b="1" dirty="0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CE5CF1A8-7813-B44E-6085-E87173022987}"/>
              </a:ext>
            </a:extLst>
          </p:cNvPr>
          <p:cNvSpPr/>
          <p:nvPr/>
        </p:nvSpPr>
        <p:spPr>
          <a:xfrm>
            <a:off x="4414068" y="5469574"/>
            <a:ext cx="2966880" cy="629043"/>
          </a:xfrm>
          <a:prstGeom prst="parallelogram">
            <a:avLst/>
          </a:prstGeom>
          <a:solidFill>
            <a:schemeClr val="accent2">
              <a:lumMod val="50000"/>
            </a:scheme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Display Success</a:t>
            </a:r>
            <a:endParaRPr lang="en-IN" b="1" dirty="0"/>
          </a:p>
        </p:txBody>
      </p:sp>
      <p:sp>
        <p:nvSpPr>
          <p:cNvPr id="13" name="Arrow: Curved Right 12">
            <a:extLst>
              <a:ext uri="{FF2B5EF4-FFF2-40B4-BE49-F238E27FC236}">
                <a16:creationId xmlns:a16="http://schemas.microsoft.com/office/drawing/2014/main" id="{35B3AB21-5650-83AB-BFED-674E8E386597}"/>
              </a:ext>
            </a:extLst>
          </p:cNvPr>
          <p:cNvSpPr/>
          <p:nvPr/>
        </p:nvSpPr>
        <p:spPr>
          <a:xfrm>
            <a:off x="2719845" y="5093354"/>
            <a:ext cx="1700980" cy="1043036"/>
          </a:xfrm>
          <a:prstGeom prst="curvedRightArrow">
            <a:avLst>
              <a:gd name="adj1" fmla="val 22491"/>
              <a:gd name="adj2" fmla="val 50000"/>
              <a:gd name="adj3" fmla="val 25000"/>
            </a:avLst>
          </a:prstGeom>
          <a:solidFill>
            <a:srgbClr val="FFC00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Arrow: Curved Left 13">
            <a:extLst>
              <a:ext uri="{FF2B5EF4-FFF2-40B4-BE49-F238E27FC236}">
                <a16:creationId xmlns:a16="http://schemas.microsoft.com/office/drawing/2014/main" id="{F3E0FE03-FEFE-E140-D6C8-04F6A47D071D}"/>
              </a:ext>
            </a:extLst>
          </p:cNvPr>
          <p:cNvSpPr/>
          <p:nvPr/>
        </p:nvSpPr>
        <p:spPr>
          <a:xfrm>
            <a:off x="7357597" y="5166686"/>
            <a:ext cx="1876735" cy="936779"/>
          </a:xfrm>
          <a:prstGeom prst="curvedLeftArrow">
            <a:avLst/>
          </a:prstGeom>
          <a:solidFill>
            <a:srgbClr val="FFC00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0A83678-C1C9-0635-9F45-953802313740}"/>
              </a:ext>
            </a:extLst>
          </p:cNvPr>
          <p:cNvSpPr/>
          <p:nvPr/>
        </p:nvSpPr>
        <p:spPr>
          <a:xfrm>
            <a:off x="4660490" y="6196015"/>
            <a:ext cx="2212255" cy="560947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Stop</a:t>
            </a:r>
            <a:endParaRPr lang="en-IN" b="1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547208C-E5DF-9956-FDDF-6B1DCCEF6EE2}"/>
              </a:ext>
            </a:extLst>
          </p:cNvPr>
          <p:cNvCxnSpPr>
            <a:cxnSpLocks/>
            <a:endCxn id="4" idx="4"/>
          </p:cNvCxnSpPr>
          <p:nvPr/>
        </p:nvCxnSpPr>
        <p:spPr>
          <a:xfrm flipV="1">
            <a:off x="6007508" y="2214742"/>
            <a:ext cx="0" cy="1396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445412B-D81C-3E52-6895-F5F1EB75E53B}"/>
              </a:ext>
            </a:extLst>
          </p:cNvPr>
          <p:cNvCxnSpPr>
            <a:cxnSpLocks/>
            <a:stCxn id="5" idx="4"/>
          </p:cNvCxnSpPr>
          <p:nvPr/>
        </p:nvCxnSpPr>
        <p:spPr>
          <a:xfrm flipH="1">
            <a:off x="6007508" y="2742969"/>
            <a:ext cx="14750" cy="3522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DE8EC90-4323-A36A-78F3-226CA1EAD366}"/>
              </a:ext>
            </a:extLst>
          </p:cNvPr>
          <p:cNvCxnSpPr>
            <a:stCxn id="6" idx="2"/>
          </p:cNvCxnSpPr>
          <p:nvPr/>
        </p:nvCxnSpPr>
        <p:spPr>
          <a:xfrm flipH="1">
            <a:off x="5899355" y="3619086"/>
            <a:ext cx="29493" cy="2154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14CBE5B-9E6F-7F76-2F55-08F324AD70A6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5928848" y="4280345"/>
            <a:ext cx="14750" cy="922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7354269-3186-2C75-FD95-224B610D3649}"/>
              </a:ext>
            </a:extLst>
          </p:cNvPr>
          <p:cNvCxnSpPr>
            <a:stCxn id="8" idx="2"/>
          </p:cNvCxnSpPr>
          <p:nvPr/>
        </p:nvCxnSpPr>
        <p:spPr>
          <a:xfrm flipH="1">
            <a:off x="5943597" y="5309336"/>
            <a:ext cx="1" cy="3055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E36F0A7-6CDE-A4BB-52D3-F95224021B2D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5818878" y="6098617"/>
            <a:ext cx="78630" cy="973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0304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6D72C-4EAD-AA8D-9DC4-3277B96F8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24165"/>
          </a:xfrm>
          <a:ln w="76200">
            <a:solidFill>
              <a:srgbClr val="00B0F0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9600" dirty="0">
                <a:latin typeface="Arial Rounded MT Bold" panose="020F0704030504030204" pitchFamily="34" charset="0"/>
              </a:rPr>
              <a:t>THANK </a:t>
            </a:r>
            <a:br>
              <a:rPr lang="en-US" sz="9600" dirty="0">
                <a:latin typeface="Arial Rounded MT Bold" panose="020F0704030504030204" pitchFamily="34" charset="0"/>
              </a:rPr>
            </a:br>
            <a:r>
              <a:rPr lang="en-US" sz="9600" dirty="0">
                <a:latin typeface="Arial Rounded MT Bold" panose="020F0704030504030204" pitchFamily="34" charset="0"/>
              </a:rPr>
              <a:t>YOU !!</a:t>
            </a:r>
            <a:endParaRPr lang="en-IN" sz="96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167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131</TotalTime>
  <Words>191</Words>
  <Application>Microsoft Office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Office Theme</vt:lpstr>
      <vt:lpstr>TITLE : Technical Documentation &amp; UML Diagrams Advanced Programming Project: Phase 1 </vt:lpstr>
      <vt:lpstr>UML CLASS DIAGRAM: OBJECT-ORIENTED STRUCTURE</vt:lpstr>
      <vt:lpstr>SYSTEM LOGIC FLOWCHART: ATTENDANCE TRACKING</vt:lpstr>
      <vt:lpstr>THANK  YOU 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Aheli Bhaumik</dc:creator>
  <cp:lastModifiedBy>Aheli Bhaumik</cp:lastModifiedBy>
  <cp:revision>1</cp:revision>
  <dcterms:created xsi:type="dcterms:W3CDTF">2026-03-29T10:55:04Z</dcterms:created>
  <dcterms:modified xsi:type="dcterms:W3CDTF">2026-03-29T13:06:29Z</dcterms:modified>
</cp:coreProperties>
</file>