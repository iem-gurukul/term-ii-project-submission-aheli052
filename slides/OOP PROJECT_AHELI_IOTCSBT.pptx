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ED83B0-EEFC-4332-BF6D-422F0DA0DAB9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010FAF76-F9E6-4CEE-8238-0F1FAF65EA50}">
      <dgm:prSet phldrT="[Text]" phldr="0" custT="1"/>
      <dgm:spPr/>
      <dgm:t>
        <a:bodyPr/>
        <a:lstStyle/>
        <a:p>
          <a:r>
            <a:rPr lang="en-US" sz="1600" b="1" dirty="0">
              <a:solidFill>
                <a:schemeClr val="tx1"/>
              </a:solidFill>
            </a:rPr>
            <a:t>PRESENTATION LAYER (Console-based UI and User Input)</a:t>
          </a:r>
          <a:endParaRPr lang="en-IN" sz="1600" b="1" dirty="0">
            <a:solidFill>
              <a:schemeClr val="tx1"/>
            </a:solidFill>
          </a:endParaRPr>
        </a:p>
      </dgm:t>
    </dgm:pt>
    <dgm:pt modelId="{A4F01A50-65B6-4C0F-913C-39A57F98E18F}" type="parTrans" cxnId="{A3D19775-3EF4-4E72-9803-8425D018D9E1}">
      <dgm:prSet/>
      <dgm:spPr/>
      <dgm:t>
        <a:bodyPr/>
        <a:lstStyle/>
        <a:p>
          <a:endParaRPr lang="en-IN"/>
        </a:p>
      </dgm:t>
    </dgm:pt>
    <dgm:pt modelId="{EEC67651-2DE9-411F-8E5D-F3958C63EB85}" type="sibTrans" cxnId="{A3D19775-3EF4-4E72-9803-8425D018D9E1}">
      <dgm:prSet/>
      <dgm:spPr/>
      <dgm:t>
        <a:bodyPr/>
        <a:lstStyle/>
        <a:p>
          <a:endParaRPr lang="en-IN"/>
        </a:p>
      </dgm:t>
    </dgm:pt>
    <dgm:pt modelId="{C8ED74FA-7104-426E-AB46-80E9BF3BDC68}">
      <dgm:prSet phldrT="[Text]" phldr="0" custT="1"/>
      <dgm:spPr/>
      <dgm:t>
        <a:bodyPr/>
        <a:lstStyle/>
        <a:p>
          <a:r>
            <a:rPr lang="en-US" sz="1600" b="1" dirty="0"/>
            <a:t>LOGIC LAYER</a:t>
          </a:r>
        </a:p>
        <a:p>
          <a:r>
            <a:rPr lang="en-US" sz="1600" b="1" dirty="0"/>
            <a:t>(</a:t>
          </a:r>
          <a:r>
            <a:rPr lang="en-US" sz="1600" b="1" dirty="0" err="1"/>
            <a:t>AttendanceSystem</a:t>
          </a:r>
          <a:r>
            <a:rPr lang="en-US" sz="1600" b="1" dirty="0"/>
            <a:t> Controller)</a:t>
          </a:r>
          <a:endParaRPr lang="en-IN" sz="1600" b="1" dirty="0"/>
        </a:p>
      </dgm:t>
    </dgm:pt>
    <dgm:pt modelId="{DD4E4FB6-31E7-40AB-8DAB-FF43CDDE4284}" type="parTrans" cxnId="{B9A1D60C-E3DB-49A1-9CFB-5E66D43AA084}">
      <dgm:prSet/>
      <dgm:spPr/>
      <dgm:t>
        <a:bodyPr/>
        <a:lstStyle/>
        <a:p>
          <a:endParaRPr lang="en-IN"/>
        </a:p>
      </dgm:t>
    </dgm:pt>
    <dgm:pt modelId="{2A545C07-63E7-40EB-A05C-18FD5252AE21}" type="sibTrans" cxnId="{B9A1D60C-E3DB-49A1-9CFB-5E66D43AA084}">
      <dgm:prSet/>
      <dgm:spPr/>
      <dgm:t>
        <a:bodyPr/>
        <a:lstStyle/>
        <a:p>
          <a:endParaRPr lang="en-IN"/>
        </a:p>
      </dgm:t>
    </dgm:pt>
    <dgm:pt modelId="{47E87813-158A-4063-A1A7-9221BF09685B}">
      <dgm:prSet phldrT="[Text]" phldr="0" custT="1"/>
      <dgm:spPr/>
      <dgm:t>
        <a:bodyPr/>
        <a:lstStyle/>
        <a:p>
          <a:r>
            <a:rPr lang="en-US" sz="1800" b="1" dirty="0"/>
            <a:t>DATA LAYER</a:t>
          </a:r>
        </a:p>
        <a:p>
          <a:r>
            <a:rPr lang="en-US" sz="1800" b="1" dirty="0"/>
            <a:t>(Student &amp; Person Models)</a:t>
          </a:r>
          <a:endParaRPr lang="en-IN" sz="1800" b="1" dirty="0"/>
        </a:p>
      </dgm:t>
    </dgm:pt>
    <dgm:pt modelId="{91748930-AD31-4F67-B2B0-CEECE2C4A95F}" type="parTrans" cxnId="{9D1A2FA7-9C09-422D-BF5C-A1C5FC5459F8}">
      <dgm:prSet/>
      <dgm:spPr/>
      <dgm:t>
        <a:bodyPr/>
        <a:lstStyle/>
        <a:p>
          <a:endParaRPr lang="en-IN"/>
        </a:p>
      </dgm:t>
    </dgm:pt>
    <dgm:pt modelId="{791377E8-B2AC-4D2C-ADA9-B68273A07FE1}" type="sibTrans" cxnId="{9D1A2FA7-9C09-422D-BF5C-A1C5FC5459F8}">
      <dgm:prSet/>
      <dgm:spPr/>
      <dgm:t>
        <a:bodyPr/>
        <a:lstStyle/>
        <a:p>
          <a:endParaRPr lang="en-IN"/>
        </a:p>
      </dgm:t>
    </dgm:pt>
    <dgm:pt modelId="{A79CAC79-9B42-4912-B786-A01CD0E4B57B}" type="pres">
      <dgm:prSet presAssocID="{78ED83B0-EEFC-4332-BF6D-422F0DA0DAB9}" presName="CompostProcess" presStyleCnt="0">
        <dgm:presLayoutVars>
          <dgm:dir/>
          <dgm:resizeHandles val="exact"/>
        </dgm:presLayoutVars>
      </dgm:prSet>
      <dgm:spPr/>
    </dgm:pt>
    <dgm:pt modelId="{E3D5181B-DF1E-4ADD-AB86-B30B0C17AADF}" type="pres">
      <dgm:prSet presAssocID="{78ED83B0-EEFC-4332-BF6D-422F0DA0DAB9}" presName="arrow" presStyleLbl="bgShp" presStyleIdx="0" presStyleCnt="1"/>
      <dgm:spPr/>
    </dgm:pt>
    <dgm:pt modelId="{8E6CF288-ADCF-4C54-94A1-FBF1D8E250DF}" type="pres">
      <dgm:prSet presAssocID="{78ED83B0-EEFC-4332-BF6D-422F0DA0DAB9}" presName="linearProcess" presStyleCnt="0"/>
      <dgm:spPr/>
    </dgm:pt>
    <dgm:pt modelId="{43AD61F9-762F-4776-91BC-26B053460C0C}" type="pres">
      <dgm:prSet presAssocID="{010FAF76-F9E6-4CEE-8238-0F1FAF65EA50}" presName="textNode" presStyleLbl="node1" presStyleIdx="0" presStyleCnt="3">
        <dgm:presLayoutVars>
          <dgm:bulletEnabled val="1"/>
        </dgm:presLayoutVars>
      </dgm:prSet>
      <dgm:spPr/>
    </dgm:pt>
    <dgm:pt modelId="{20CCD71B-A1C1-4F88-991E-C380391B9C0D}" type="pres">
      <dgm:prSet presAssocID="{EEC67651-2DE9-411F-8E5D-F3958C63EB85}" presName="sibTrans" presStyleCnt="0"/>
      <dgm:spPr/>
    </dgm:pt>
    <dgm:pt modelId="{A95D39A0-05DE-4801-9411-64594B401B54}" type="pres">
      <dgm:prSet presAssocID="{C8ED74FA-7104-426E-AB46-80E9BF3BDC68}" presName="textNode" presStyleLbl="node1" presStyleIdx="1" presStyleCnt="3">
        <dgm:presLayoutVars>
          <dgm:bulletEnabled val="1"/>
        </dgm:presLayoutVars>
      </dgm:prSet>
      <dgm:spPr/>
    </dgm:pt>
    <dgm:pt modelId="{2BA10908-CC7D-476C-8AFA-D8AA78C18270}" type="pres">
      <dgm:prSet presAssocID="{2A545C07-63E7-40EB-A05C-18FD5252AE21}" presName="sibTrans" presStyleCnt="0"/>
      <dgm:spPr/>
    </dgm:pt>
    <dgm:pt modelId="{E1B484B2-A5B2-4B4A-B30C-D4DAF3FE902F}" type="pres">
      <dgm:prSet presAssocID="{47E87813-158A-4063-A1A7-9221BF09685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E3864508-7C8B-48C0-93FB-52D965B2BABE}" type="presOf" srcId="{010FAF76-F9E6-4CEE-8238-0F1FAF65EA50}" destId="{43AD61F9-762F-4776-91BC-26B053460C0C}" srcOrd="0" destOrd="0" presId="urn:microsoft.com/office/officeart/2005/8/layout/hProcess9"/>
    <dgm:cxn modelId="{B9A1D60C-E3DB-49A1-9CFB-5E66D43AA084}" srcId="{78ED83B0-EEFC-4332-BF6D-422F0DA0DAB9}" destId="{C8ED74FA-7104-426E-AB46-80E9BF3BDC68}" srcOrd="1" destOrd="0" parTransId="{DD4E4FB6-31E7-40AB-8DAB-FF43CDDE4284}" sibTransId="{2A545C07-63E7-40EB-A05C-18FD5252AE21}"/>
    <dgm:cxn modelId="{A3D19775-3EF4-4E72-9803-8425D018D9E1}" srcId="{78ED83B0-EEFC-4332-BF6D-422F0DA0DAB9}" destId="{010FAF76-F9E6-4CEE-8238-0F1FAF65EA50}" srcOrd="0" destOrd="0" parTransId="{A4F01A50-65B6-4C0F-913C-39A57F98E18F}" sibTransId="{EEC67651-2DE9-411F-8E5D-F3958C63EB85}"/>
    <dgm:cxn modelId="{0269FD9F-DC93-45DF-A6D8-C831E716364D}" type="presOf" srcId="{78ED83B0-EEFC-4332-BF6D-422F0DA0DAB9}" destId="{A79CAC79-9B42-4912-B786-A01CD0E4B57B}" srcOrd="0" destOrd="0" presId="urn:microsoft.com/office/officeart/2005/8/layout/hProcess9"/>
    <dgm:cxn modelId="{9D1A2FA7-9C09-422D-BF5C-A1C5FC5459F8}" srcId="{78ED83B0-EEFC-4332-BF6D-422F0DA0DAB9}" destId="{47E87813-158A-4063-A1A7-9221BF09685B}" srcOrd="2" destOrd="0" parTransId="{91748930-AD31-4F67-B2B0-CEECE2C4A95F}" sibTransId="{791377E8-B2AC-4D2C-ADA9-B68273A07FE1}"/>
    <dgm:cxn modelId="{6C3B02A8-6EE1-4A84-BBE6-29D916BDF84D}" type="presOf" srcId="{47E87813-158A-4063-A1A7-9221BF09685B}" destId="{E1B484B2-A5B2-4B4A-B30C-D4DAF3FE902F}" srcOrd="0" destOrd="0" presId="urn:microsoft.com/office/officeart/2005/8/layout/hProcess9"/>
    <dgm:cxn modelId="{ED60AFF2-0BFA-4E27-ACC6-29FE48B2FD35}" type="presOf" srcId="{C8ED74FA-7104-426E-AB46-80E9BF3BDC68}" destId="{A95D39A0-05DE-4801-9411-64594B401B54}" srcOrd="0" destOrd="0" presId="urn:microsoft.com/office/officeart/2005/8/layout/hProcess9"/>
    <dgm:cxn modelId="{0070FEE5-DA4F-4BE4-B0B4-118B8377BC6E}" type="presParOf" srcId="{A79CAC79-9B42-4912-B786-A01CD0E4B57B}" destId="{E3D5181B-DF1E-4ADD-AB86-B30B0C17AADF}" srcOrd="0" destOrd="0" presId="urn:microsoft.com/office/officeart/2005/8/layout/hProcess9"/>
    <dgm:cxn modelId="{BDEEEAFD-0B28-47A7-A02A-D66565989E2B}" type="presParOf" srcId="{A79CAC79-9B42-4912-B786-A01CD0E4B57B}" destId="{8E6CF288-ADCF-4C54-94A1-FBF1D8E250DF}" srcOrd="1" destOrd="0" presId="urn:microsoft.com/office/officeart/2005/8/layout/hProcess9"/>
    <dgm:cxn modelId="{15F1A622-2FFB-4E52-8311-430EFEF48D1C}" type="presParOf" srcId="{8E6CF288-ADCF-4C54-94A1-FBF1D8E250DF}" destId="{43AD61F9-762F-4776-91BC-26B053460C0C}" srcOrd="0" destOrd="0" presId="urn:microsoft.com/office/officeart/2005/8/layout/hProcess9"/>
    <dgm:cxn modelId="{D2D380C8-129A-4470-B928-E26A7F731C75}" type="presParOf" srcId="{8E6CF288-ADCF-4C54-94A1-FBF1D8E250DF}" destId="{20CCD71B-A1C1-4F88-991E-C380391B9C0D}" srcOrd="1" destOrd="0" presId="urn:microsoft.com/office/officeart/2005/8/layout/hProcess9"/>
    <dgm:cxn modelId="{3B4A56D7-5B0C-4434-A498-DBD7CE86AAC9}" type="presParOf" srcId="{8E6CF288-ADCF-4C54-94A1-FBF1D8E250DF}" destId="{A95D39A0-05DE-4801-9411-64594B401B54}" srcOrd="2" destOrd="0" presId="urn:microsoft.com/office/officeart/2005/8/layout/hProcess9"/>
    <dgm:cxn modelId="{481BB114-A3B4-4BCE-864D-1794EB4D6F5C}" type="presParOf" srcId="{8E6CF288-ADCF-4C54-94A1-FBF1D8E250DF}" destId="{2BA10908-CC7D-476C-8AFA-D8AA78C18270}" srcOrd="3" destOrd="0" presId="urn:microsoft.com/office/officeart/2005/8/layout/hProcess9"/>
    <dgm:cxn modelId="{A0FD2407-EF78-4049-92FA-F9D7BAD3889A}" type="presParOf" srcId="{8E6CF288-ADCF-4C54-94A1-FBF1D8E250DF}" destId="{E1B484B2-A5B2-4B4A-B30C-D4DAF3FE902F}" srcOrd="4" destOrd="0" presId="urn:microsoft.com/office/officeart/2005/8/layout/hProcess9"/>
  </dgm:cxnLst>
  <dgm:bg/>
  <dgm:whole>
    <a:ln w="19050">
      <a:solidFill>
        <a:srgbClr val="C0000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5181B-DF1E-4ADD-AB86-B30B0C17AADF}">
      <dsp:nvSpPr>
        <dsp:cNvPr id="0" name=""/>
        <dsp:cNvSpPr/>
      </dsp:nvSpPr>
      <dsp:spPr>
        <a:xfrm>
          <a:off x="525042" y="0"/>
          <a:ext cx="5950481" cy="2120000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D61F9-762F-4776-91BC-26B053460C0C}">
      <dsp:nvSpPr>
        <dsp:cNvPr id="0" name=""/>
        <dsp:cNvSpPr/>
      </dsp:nvSpPr>
      <dsp:spPr>
        <a:xfrm>
          <a:off x="3375" y="635999"/>
          <a:ext cx="2164005" cy="848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tx1"/>
              </a:solidFill>
            </a:rPr>
            <a:t>PRESENTATION LAYER (Console-based UI and User Input)</a:t>
          </a:r>
          <a:endParaRPr lang="en-IN" sz="1600" b="1" kern="1200" dirty="0">
            <a:solidFill>
              <a:schemeClr val="tx1"/>
            </a:solidFill>
          </a:endParaRPr>
        </a:p>
      </dsp:txBody>
      <dsp:txXfrm>
        <a:off x="44771" y="677395"/>
        <a:ext cx="2081213" cy="765208"/>
      </dsp:txXfrm>
    </dsp:sp>
    <dsp:sp modelId="{A95D39A0-05DE-4801-9411-64594B401B54}">
      <dsp:nvSpPr>
        <dsp:cNvPr id="0" name=""/>
        <dsp:cNvSpPr/>
      </dsp:nvSpPr>
      <dsp:spPr>
        <a:xfrm>
          <a:off x="2418280" y="635999"/>
          <a:ext cx="2164005" cy="848000"/>
        </a:xfrm>
        <a:prstGeom prst="roundRect">
          <a:avLst/>
        </a:prstGeom>
        <a:solidFill>
          <a:schemeClr val="accent5">
            <a:hueOff val="680693"/>
            <a:satOff val="1227"/>
            <a:lumOff val="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LOGIC LAYER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(</a:t>
          </a:r>
          <a:r>
            <a:rPr lang="en-US" sz="1600" b="1" kern="1200" dirty="0" err="1"/>
            <a:t>AttendanceSystem</a:t>
          </a:r>
          <a:r>
            <a:rPr lang="en-US" sz="1600" b="1" kern="1200" dirty="0"/>
            <a:t> Controller)</a:t>
          </a:r>
          <a:endParaRPr lang="en-IN" sz="1600" b="1" kern="1200" dirty="0"/>
        </a:p>
      </dsp:txBody>
      <dsp:txXfrm>
        <a:off x="2459676" y="677395"/>
        <a:ext cx="2081213" cy="765208"/>
      </dsp:txXfrm>
    </dsp:sp>
    <dsp:sp modelId="{E1B484B2-A5B2-4B4A-B30C-D4DAF3FE902F}">
      <dsp:nvSpPr>
        <dsp:cNvPr id="0" name=""/>
        <dsp:cNvSpPr/>
      </dsp:nvSpPr>
      <dsp:spPr>
        <a:xfrm>
          <a:off x="4833185" y="635999"/>
          <a:ext cx="2164005" cy="848000"/>
        </a:xfrm>
        <a:prstGeom prst="roundRect">
          <a:avLst/>
        </a:prstGeom>
        <a:solidFill>
          <a:schemeClr val="accent5">
            <a:hueOff val="1361386"/>
            <a:satOff val="2454"/>
            <a:lumOff val="274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DATA LAYER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(Student &amp; Person Models)</a:t>
          </a:r>
          <a:endParaRPr lang="en-IN" sz="1800" b="1" kern="1200" dirty="0"/>
        </a:p>
      </dsp:txBody>
      <dsp:txXfrm>
        <a:off x="4874581" y="677395"/>
        <a:ext cx="2081213" cy="765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06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010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1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63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88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922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50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40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8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728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8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9203F-009C-404C-AE3C-1B3D35BA7D67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C37AF-A802-425C-AD3B-C39E23231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3235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CB3CD-1AE2-F720-989C-F664E76BC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993" y="462116"/>
            <a:ext cx="9488129" cy="2966883"/>
          </a:xfrm>
        </p:spPr>
        <p:txBody>
          <a:bodyPr>
            <a:noAutofit/>
          </a:bodyPr>
          <a:lstStyle/>
          <a:p>
            <a:pPr algn="l"/>
            <a:r>
              <a:rPr lang="en-US" sz="2800" b="1" u="sng" dirty="0">
                <a:solidFill>
                  <a:schemeClr val="accent6"/>
                </a:solidFill>
                <a:latin typeface="+mn-lt"/>
                <a:ea typeface="Calibri Light" panose="020F0302020204030204" pitchFamily="34" charset="0"/>
                <a:cs typeface="Calibri Light" panose="020F0302020204030204" pitchFamily="34" charset="0"/>
              </a:rPr>
              <a:t>PROJECT TITLE</a:t>
            </a:r>
            <a:r>
              <a:rPr lang="en-US" sz="2800" b="1" dirty="0">
                <a:solidFill>
                  <a:schemeClr val="accent6"/>
                </a:solidFill>
                <a:latin typeface="+mn-lt"/>
                <a:ea typeface="Calibri Light" panose="020F0302020204030204" pitchFamily="34" charset="0"/>
                <a:cs typeface="Calibri Light" panose="020F0302020204030204" pitchFamily="34" charset="0"/>
              </a:rPr>
              <a:t> -</a:t>
            </a:r>
            <a:r>
              <a:rPr lang="en-US" sz="2800" b="1" dirty="0">
                <a:solidFill>
                  <a:schemeClr val="accent6"/>
                </a:solidFill>
              </a:rPr>
              <a:t> </a:t>
            </a:r>
            <a:r>
              <a:rPr lang="en-US" sz="2800" b="1" dirty="0"/>
              <a:t>Student Attendance Management System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b="1" u="sng" dirty="0">
                <a:solidFill>
                  <a:schemeClr val="accent6"/>
                </a:solidFill>
                <a:latin typeface="+mn-lt"/>
              </a:rPr>
              <a:t>PROBLEM STATEMENT</a:t>
            </a:r>
            <a:r>
              <a:rPr lang="en-US" sz="2800" b="1" dirty="0">
                <a:solidFill>
                  <a:srgbClr val="0070C0"/>
                </a:solidFill>
                <a:latin typeface="+mn-lt"/>
              </a:rPr>
              <a:t>- </a:t>
            </a:r>
            <a:r>
              <a:rPr lang="en-US" sz="2000" b="1" dirty="0">
                <a:solidFill>
                  <a:srgbClr val="00B0F0"/>
                </a:solidFill>
                <a:latin typeface="+mn-lt"/>
              </a:rPr>
              <a:t>Manual attendance marking is inefficient, prone to human error, and difficult to track over long periods. This system provides a digital, Object-Oriented solution to automate record-keeping and ensure data integrity.</a:t>
            </a:r>
            <a:br>
              <a:rPr lang="en-US" sz="2000" b="1" dirty="0">
                <a:solidFill>
                  <a:srgbClr val="00B0F0"/>
                </a:solidFill>
                <a:latin typeface="+mn-lt"/>
              </a:rPr>
            </a:br>
            <a:r>
              <a:rPr lang="en-US" sz="2800" b="1" u="sng" dirty="0">
                <a:solidFill>
                  <a:schemeClr val="accent6"/>
                </a:solidFill>
                <a:latin typeface="+mn-lt"/>
              </a:rPr>
              <a:t>TARGET USERS –</a:t>
            </a:r>
            <a:br>
              <a:rPr lang="en-US" sz="2800" b="1" u="sng" dirty="0">
                <a:solidFill>
                  <a:schemeClr val="accent6"/>
                </a:solidFill>
                <a:latin typeface="+mn-lt"/>
              </a:rPr>
            </a:br>
            <a:r>
              <a:rPr lang="en-US" sz="2000" b="1" u="sng" dirty="0">
                <a:latin typeface="+mn-lt"/>
              </a:rPr>
              <a:t>Faculty Members: </a:t>
            </a:r>
            <a:r>
              <a:rPr lang="en-US" sz="2000" b="1" dirty="0">
                <a:solidFill>
                  <a:srgbClr val="00B0F0"/>
                </a:solidFill>
                <a:latin typeface="+mn-lt"/>
              </a:rPr>
              <a:t>For marking daily attendance and managing student records.</a:t>
            </a:r>
            <a:br>
              <a:rPr lang="en-US" sz="2000" b="1" dirty="0">
                <a:solidFill>
                  <a:srgbClr val="00B0F0"/>
                </a:solidFill>
                <a:latin typeface="+mn-lt"/>
              </a:rPr>
            </a:br>
            <a:r>
              <a:rPr lang="en-US" sz="2000" b="1" u="sng" dirty="0">
                <a:latin typeface="+mn-lt"/>
              </a:rPr>
              <a:t>Academic Administrators:</a:t>
            </a:r>
            <a:r>
              <a:rPr lang="en-US" sz="2000" b="1" dirty="0">
                <a:solidFill>
                  <a:srgbClr val="00B0F0"/>
                </a:solidFill>
                <a:latin typeface="+mn-lt"/>
              </a:rPr>
              <a:t> For generating attendance reports and monitoring student eligibility.</a:t>
            </a:r>
            <a:endParaRPr lang="en-IN" sz="2000" b="1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204A7-8F25-AF4C-199E-715DF29CD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2992" y="3647770"/>
            <a:ext cx="8672051" cy="2966882"/>
          </a:xfrm>
          <a:solidFill>
            <a:schemeClr val="bg1">
              <a:lumMod val="95000"/>
              <a:lumOff val="5000"/>
              <a:alpha val="96000"/>
            </a:schemeClr>
          </a:solidFill>
          <a:ln w="28575">
            <a:solidFill>
              <a:srgbClr val="C00000"/>
            </a:solidFill>
          </a:ln>
        </p:spPr>
        <p:txBody>
          <a:bodyPr>
            <a:normAutofit fontScale="92500" lnSpcReduction="10000"/>
          </a:bodyPr>
          <a:lstStyle/>
          <a:p>
            <a:pPr algn="l"/>
            <a:r>
              <a:rPr lang="en-US" sz="2800" b="1" u="sng" dirty="0">
                <a:solidFill>
                  <a:schemeClr val="accent6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STUDENT DETAILS:</a:t>
            </a:r>
          </a:p>
          <a:p>
            <a:pPr algn="l"/>
            <a:r>
              <a:rPr lang="en-US" b="1" u="sng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Name</a:t>
            </a:r>
            <a:r>
              <a:rPr lang="en-US" b="1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  <a:r>
              <a:rPr lang="en-US" b="1" dirty="0">
                <a:solidFill>
                  <a:srgbClr val="0070C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Aheli Bhaumik</a:t>
            </a:r>
          </a:p>
          <a:p>
            <a:pPr algn="l"/>
            <a:r>
              <a:rPr lang="en-US" b="1" u="sng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Enrollment Number:</a:t>
            </a:r>
            <a:r>
              <a:rPr lang="en-US" b="1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12024052017025</a:t>
            </a:r>
          </a:p>
          <a:p>
            <a:pPr algn="l"/>
            <a:r>
              <a:rPr lang="en-US" b="1" u="sng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Class Roll No.: 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08</a:t>
            </a:r>
          </a:p>
          <a:p>
            <a:pPr algn="l"/>
            <a:r>
              <a:rPr lang="en-US" b="1" u="sng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Department:</a:t>
            </a:r>
            <a:r>
              <a:rPr lang="en-US" b="1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Computer Science &amp; Engineering (CSE) [</a:t>
            </a:r>
            <a:r>
              <a:rPr lang="en-US" b="1" dirty="0" err="1">
                <a:ea typeface="Calibri Light" panose="020F0302020204030204" pitchFamily="34" charset="0"/>
                <a:cs typeface="Calibri Light" panose="020F0302020204030204" pitchFamily="34" charset="0"/>
              </a:rPr>
              <a:t>IoT,CS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 BT]</a:t>
            </a:r>
          </a:p>
          <a:p>
            <a:pPr algn="l"/>
            <a:r>
              <a:rPr lang="en-US" b="1" u="sng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Year/Semester: 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2nd Year / 4th Semester</a:t>
            </a:r>
          </a:p>
          <a:p>
            <a:pPr algn="l"/>
            <a:r>
              <a:rPr lang="en-US" b="1" u="sng" dirty="0">
                <a:solidFill>
                  <a:srgbClr val="00B0F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College:</a:t>
            </a:r>
            <a:r>
              <a:rPr lang="en-US" b="1" dirty="0">
                <a:solidFill>
                  <a:srgbClr val="0070C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dirty="0">
                <a:ea typeface="Calibri Light" panose="020F0302020204030204" pitchFamily="34" charset="0"/>
                <a:cs typeface="Calibri Light" panose="020F0302020204030204" pitchFamily="34" charset="0"/>
              </a:rPr>
              <a:t>Institute of Engineering &amp; Management (IEM),Kolkata</a:t>
            </a:r>
            <a:endParaRPr lang="en-IN" b="1" dirty="0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766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96770-9778-460C-D12C-6313E5C4A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06" y="287593"/>
            <a:ext cx="11166987" cy="62828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>
                <a:solidFill>
                  <a:schemeClr val="accent6"/>
                </a:solidFill>
              </a:rPr>
              <a:t>SYSTEM DESIGN </a:t>
            </a:r>
          </a:p>
          <a:p>
            <a:pPr marL="0" indent="0" algn="just">
              <a:buNone/>
            </a:pPr>
            <a:r>
              <a:rPr lang="en-US" sz="2000" b="1" u="sng" dirty="0">
                <a:solidFill>
                  <a:schemeClr val="accent6"/>
                </a:solidFill>
              </a:rPr>
              <a:t>High-Level Architecture </a:t>
            </a:r>
            <a:r>
              <a:rPr lang="en-US" sz="2000" b="1" u="sng" dirty="0" err="1">
                <a:solidFill>
                  <a:schemeClr val="accent6"/>
                </a:solidFill>
              </a:rPr>
              <a:t>Diagram:</a:t>
            </a:r>
            <a:r>
              <a:rPr lang="en-US" sz="2000" b="1" dirty="0" err="1"/>
              <a:t>The</a:t>
            </a:r>
            <a:r>
              <a:rPr lang="en-US" sz="2000" b="1" dirty="0"/>
              <a:t> system is developed in a modular fashion where data objects (like Students) are clearly separated from the logic that operates upon them (the Attendance System).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b="1" u="sng" dirty="0">
                <a:solidFill>
                  <a:schemeClr val="accent6"/>
                </a:solidFill>
              </a:rPr>
              <a:t>Key Classes &amp; Responsibilities:</a:t>
            </a:r>
          </a:p>
          <a:p>
            <a:pPr marL="0" indent="0" algn="just">
              <a:buNone/>
            </a:pPr>
            <a:r>
              <a:rPr lang="en-US" sz="2000" b="1" u="sng" dirty="0">
                <a:solidFill>
                  <a:srgbClr val="00B0F0"/>
                </a:solidFill>
              </a:rPr>
              <a:t>Person (Base):</a:t>
            </a:r>
            <a:r>
              <a:rPr lang="en-US" sz="2000" dirty="0"/>
              <a:t> </a:t>
            </a:r>
            <a:r>
              <a:rPr lang="en-US" sz="2000" b="1" dirty="0"/>
              <a:t>Holds common identity-related details (Name/ID).</a:t>
            </a:r>
          </a:p>
          <a:p>
            <a:pPr marL="0" indent="0" algn="just">
              <a:buNone/>
            </a:pPr>
            <a:r>
              <a:rPr lang="en-US" sz="2000" b="1" u="sng" dirty="0">
                <a:solidFill>
                  <a:srgbClr val="00B0F0"/>
                </a:solidFill>
              </a:rPr>
              <a:t>Student (Derived):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b="1" dirty="0"/>
              <a:t>Manages specific details like Roll No and Attendance calculations.</a:t>
            </a:r>
          </a:p>
          <a:p>
            <a:pPr marL="0" indent="0" algn="just">
              <a:buNone/>
            </a:pPr>
            <a:r>
              <a:rPr lang="en-US" sz="2000" b="1" u="sng" dirty="0" err="1">
                <a:solidFill>
                  <a:srgbClr val="00B0F0"/>
                </a:solidFill>
              </a:rPr>
              <a:t>AttendanceSystem</a:t>
            </a:r>
            <a:r>
              <a:rPr lang="en-US" sz="2000" b="1" u="sng" dirty="0">
                <a:solidFill>
                  <a:srgbClr val="00B0F0"/>
                </a:solidFill>
              </a:rPr>
              <a:t> (Controller): </a:t>
            </a:r>
            <a:r>
              <a:rPr lang="en-US" sz="2000" b="1" dirty="0"/>
              <a:t>Manages the main menu.</a:t>
            </a:r>
          </a:p>
          <a:p>
            <a:pPr marL="0" indent="0" algn="just">
              <a:buNone/>
            </a:pPr>
            <a:r>
              <a:rPr lang="en-US" sz="2000" b="1" u="sng" dirty="0">
                <a:solidFill>
                  <a:schemeClr val="accent6"/>
                </a:solidFill>
              </a:rPr>
              <a:t>Package Structure:</a:t>
            </a:r>
          </a:p>
          <a:p>
            <a:pPr marL="0" indent="0" algn="just">
              <a:buNone/>
            </a:pPr>
            <a:r>
              <a:rPr lang="en-US" sz="2000" b="1" dirty="0"/>
              <a:t>Organized under </a:t>
            </a:r>
            <a:r>
              <a:rPr lang="en-US" sz="2000" b="1" dirty="0" err="1"/>
              <a:t>com.attendance.core</a:t>
            </a:r>
            <a:r>
              <a:rPr lang="en-US" sz="2000" b="1" dirty="0"/>
              <a:t> to maintain a clean, professional, and modular directory.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1DFA028-F159-7A4B-2D2D-DE15B2FBC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498461"/>
              </p:ext>
            </p:extLst>
          </p:nvPr>
        </p:nvGraphicFramePr>
        <p:xfrm>
          <a:off x="2487561" y="1567097"/>
          <a:ext cx="7000567" cy="212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446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375BA2-4DDB-E30F-7FF5-310BEFAA8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283"/>
            <a:ext cx="9144000" cy="5840361"/>
          </a:xfrm>
        </p:spPr>
        <p:txBody>
          <a:bodyPr>
            <a:normAutofit/>
          </a:bodyPr>
          <a:lstStyle/>
          <a:p>
            <a:pPr algn="l"/>
            <a:r>
              <a:rPr lang="en-US" b="1" u="sng" dirty="0">
                <a:solidFill>
                  <a:schemeClr val="accent6"/>
                </a:solidFill>
              </a:rPr>
              <a:t>OOP CONCEPTS USED </a:t>
            </a:r>
          </a:p>
          <a:p>
            <a:pPr algn="l"/>
            <a:r>
              <a:rPr lang="en-US" sz="2000" b="1" u="sng" dirty="0">
                <a:solidFill>
                  <a:srgbClr val="00B0F0"/>
                </a:solidFill>
              </a:rPr>
              <a:t>Where Abstraction is </a:t>
            </a:r>
            <a:r>
              <a:rPr lang="en-US" sz="2000" b="1" u="sng" dirty="0" err="1">
                <a:solidFill>
                  <a:srgbClr val="00B0F0"/>
                </a:solidFill>
              </a:rPr>
              <a:t>used:</a:t>
            </a:r>
            <a:r>
              <a:rPr lang="en-US" sz="2000" b="1" dirty="0" err="1"/>
              <a:t>The</a:t>
            </a:r>
            <a:r>
              <a:rPr lang="en-US" sz="2000" b="1" dirty="0"/>
              <a:t> </a:t>
            </a:r>
            <a:r>
              <a:rPr lang="en-US" sz="2000" b="1" dirty="0" err="1"/>
              <a:t>showDashboard</a:t>
            </a:r>
            <a:r>
              <a:rPr lang="en-US" sz="2000" b="1" dirty="0"/>
              <a:t>() method abstracts the system by hiding the complex logic of data retrieval and </a:t>
            </a:r>
            <a:r>
              <a:rPr lang="en-US" sz="2000" b="1" dirty="0" err="1"/>
              <a:t>formatting.The</a:t>
            </a:r>
            <a:r>
              <a:rPr lang="en-US" sz="2000" b="1" dirty="0"/>
              <a:t> user can access the system without having to know the structure of the code.</a:t>
            </a:r>
          </a:p>
          <a:p>
            <a:pPr algn="l"/>
            <a:r>
              <a:rPr lang="en-US" sz="2000" b="1" u="sng" dirty="0">
                <a:solidFill>
                  <a:srgbClr val="00B0F0"/>
                </a:solidFill>
              </a:rPr>
              <a:t>Where Inheritance is </a:t>
            </a:r>
            <a:r>
              <a:rPr lang="en-US" sz="2000" b="1" u="sng" dirty="0" err="1">
                <a:solidFill>
                  <a:srgbClr val="00B0F0"/>
                </a:solidFill>
              </a:rPr>
              <a:t>Used:</a:t>
            </a:r>
            <a:r>
              <a:rPr lang="en-US" sz="2000" b="1" dirty="0" err="1"/>
              <a:t>In</a:t>
            </a:r>
            <a:r>
              <a:rPr lang="en-US" sz="2000" b="1" dirty="0"/>
              <a:t> the above example, Student is inheriting from Person using the "extends" </a:t>
            </a:r>
            <a:r>
              <a:rPr lang="en-US" sz="2000" b="1" dirty="0" err="1"/>
              <a:t>keyword.Code</a:t>
            </a:r>
            <a:r>
              <a:rPr lang="en-US" sz="2000" b="1" dirty="0"/>
              <a:t> reusability is achieved through inheritance, and the Student object is automatically endowed with common attributes like "Name" and "ID".</a:t>
            </a:r>
          </a:p>
          <a:p>
            <a:pPr algn="l"/>
            <a:r>
              <a:rPr lang="en-US" sz="2000" b="1" u="sng" dirty="0">
                <a:solidFill>
                  <a:srgbClr val="00B0F0"/>
                </a:solidFill>
              </a:rPr>
              <a:t>Where Polymorphism </a:t>
            </a:r>
            <a:r>
              <a:rPr lang="en-US" sz="2000" b="1" u="sng" dirty="0" err="1">
                <a:solidFill>
                  <a:srgbClr val="00B0F0"/>
                </a:solidFill>
              </a:rPr>
              <a:t>occurs:</a:t>
            </a:r>
            <a:r>
              <a:rPr lang="en-US" sz="2000" b="1" dirty="0" err="1"/>
              <a:t>Method</a:t>
            </a:r>
            <a:r>
              <a:rPr lang="en-US" sz="2000" b="1" dirty="0"/>
              <a:t> Overriding is used to override the </a:t>
            </a:r>
            <a:r>
              <a:rPr lang="en-US" sz="2000" b="1" dirty="0" err="1"/>
              <a:t>showDashboard</a:t>
            </a:r>
            <a:r>
              <a:rPr lang="en-US" sz="2000" b="1" dirty="0"/>
              <a:t>() method in the Student </a:t>
            </a:r>
            <a:r>
              <a:rPr lang="en-US" sz="2000" b="1" dirty="0" err="1"/>
              <a:t>class.This</a:t>
            </a:r>
            <a:r>
              <a:rPr lang="en-US" sz="2000" b="1" dirty="0"/>
              <a:t> ensures that the system displays student-specific information like Roll No./Attendance even though it is referred to as a general Person object.</a:t>
            </a:r>
          </a:p>
          <a:p>
            <a:pPr algn="l"/>
            <a:r>
              <a:rPr lang="en-US" sz="2000" b="1" u="sng" dirty="0">
                <a:solidFill>
                  <a:schemeClr val="accent6"/>
                </a:solidFill>
              </a:rPr>
              <a:t>Design Pattern (Encapsulation Pattern):</a:t>
            </a:r>
          </a:p>
          <a:p>
            <a:pPr algn="l"/>
            <a:r>
              <a:rPr lang="en-US" sz="2000" b="1" u="sng" dirty="0">
                <a:solidFill>
                  <a:srgbClr val="00B0F0"/>
                </a:solidFill>
              </a:rPr>
              <a:t>Implementation: </a:t>
            </a:r>
            <a:r>
              <a:rPr lang="en-US" sz="2000" b="1" dirty="0"/>
              <a:t>All the data fields, like attendance, are made private, and any changes can be made only through a public </a:t>
            </a:r>
            <a:r>
              <a:rPr lang="en-US" sz="2000" b="1" dirty="0" err="1"/>
              <a:t>addAttendance</a:t>
            </a:r>
            <a:r>
              <a:rPr lang="en-US" sz="2000" b="1" dirty="0"/>
              <a:t>() method.</a:t>
            </a:r>
          </a:p>
          <a:p>
            <a:pPr algn="l"/>
            <a:r>
              <a:rPr lang="en-US" sz="2000" b="1" u="sng" dirty="0">
                <a:solidFill>
                  <a:srgbClr val="00B0F0"/>
                </a:solidFill>
              </a:rPr>
              <a:t>Why Chosen: </a:t>
            </a:r>
            <a:r>
              <a:rPr lang="en-US" sz="2000" b="1" dirty="0"/>
              <a:t>This pattern is chosen for Data Integrity, as any changes can be made only in valid increments.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14320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1005-6F7F-E3C5-5343-516CBFD3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b="1" u="sng" dirty="0">
                <a:solidFill>
                  <a:schemeClr val="accent6"/>
                </a:solidFill>
              </a:rPr>
              <a:t>TECHNICAL HIGHLIGHTS</a:t>
            </a:r>
          </a:p>
          <a:p>
            <a:pPr marL="0" indent="0">
              <a:buNone/>
            </a:pPr>
            <a:r>
              <a:rPr lang="en-US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Snippet-</a:t>
            </a:r>
          </a:p>
          <a:p>
            <a:pPr marL="0" indent="0">
              <a:buNone/>
            </a:pPr>
            <a:endParaRPr 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Functionality &amp; Logic:</a:t>
            </a:r>
          </a:p>
          <a:p>
            <a:pPr marL="0" indent="0">
              <a:buNone/>
            </a:pPr>
            <a:r>
              <a:rPr lang="en-US" b="1" u="sng" dirty="0"/>
              <a:t>Automated Increment: </a:t>
            </a:r>
            <a:r>
              <a:rPr lang="en-US" b="1" dirty="0"/>
              <a:t>With every call to this method, there is an automatic increment in the student's attendance figure by a fixed 5%, mimicking an attended class session.</a:t>
            </a:r>
          </a:p>
          <a:p>
            <a:pPr marL="0" indent="0">
              <a:buNone/>
            </a:pPr>
            <a:r>
              <a:rPr lang="en-US" b="1" u="sng" dirty="0"/>
              <a:t>Boundary Constraint:</a:t>
            </a:r>
            <a:r>
              <a:rPr lang="en-US" b="1" dirty="0"/>
              <a:t> I have also included a logical constraint to make sure that the percentages do not exceed 100%. This filters out impossible data from entering the system.</a:t>
            </a:r>
          </a:p>
          <a:p>
            <a:pPr marL="0" indent="0">
              <a:buNone/>
            </a:pPr>
            <a:r>
              <a:rPr lang="en-US" b="1" u="sng" dirty="0"/>
              <a:t>Encapsulation in Action: </a:t>
            </a:r>
            <a:r>
              <a:rPr lang="en-US" b="1" dirty="0"/>
              <a:t>With </a:t>
            </a:r>
            <a:r>
              <a:rPr lang="en-US" b="1" dirty="0" err="1"/>
              <a:t>attendancePercentage</a:t>
            </a:r>
            <a:r>
              <a:rPr lang="en-US" b="1" dirty="0"/>
              <a:t> being a private variable, this method is the sole entry point to modify it, and there is no way to circumvent this calculation logic.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E12F7-7EC5-501D-7160-622CF5541A88}"/>
              </a:ext>
            </a:extLst>
          </p:cNvPr>
          <p:cNvSpPr txBox="1"/>
          <p:nvPr/>
        </p:nvSpPr>
        <p:spPr>
          <a:xfrm>
            <a:off x="3392130" y="1383578"/>
            <a:ext cx="6046838" cy="1754326"/>
          </a:xfrm>
          <a:prstGeom prst="rect">
            <a:avLst/>
          </a:prstGeom>
          <a:solidFill>
            <a:schemeClr val="tx2">
              <a:lumMod val="25000"/>
            </a:schemeClr>
          </a:solidFill>
          <a:ln w="19050">
            <a:solidFill>
              <a:schemeClr val="tx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public void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addAttendance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() { </a:t>
            </a:r>
          </a:p>
          <a:p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this.attendancePercentage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+= 5.0;</a:t>
            </a:r>
          </a:p>
          <a:p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   if (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this.attendancePercentage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&gt; 100.0) {</a:t>
            </a:r>
          </a:p>
          <a:p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       </a:t>
            </a:r>
            <a:r>
              <a:rPr lang="en-IN" dirty="0" err="1">
                <a:solidFill>
                  <a:schemeClr val="accent2"/>
                </a:solidFill>
                <a:latin typeface="Consolas" panose="020B0609020204030204" pitchFamily="49" charset="0"/>
              </a:rPr>
              <a:t>this.attendancePercentage</a:t>
            </a:r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= 100;    </a:t>
            </a:r>
          </a:p>
          <a:p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IN" dirty="0">
                <a:solidFill>
                  <a:schemeClr val="accent2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043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802BD-236F-3BCB-7035-6347B7782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06"/>
            <a:ext cx="10515600" cy="5931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6"/>
                </a:solidFill>
              </a:rPr>
              <a:t>LIVE DEMO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00B0F0"/>
                </a:solidFill>
              </a:rPr>
              <a:t>Show working System</a:t>
            </a:r>
            <a:r>
              <a:rPr lang="en-US" sz="2400" b="1" dirty="0">
                <a:solidFill>
                  <a:schemeClr val="accent6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b="1" dirty="0"/>
              <a:t>Launch the Java application and initialize the core console </a:t>
            </a:r>
            <a:r>
              <a:rPr lang="en-US" sz="2400" b="1" dirty="0" err="1"/>
              <a:t>dashboard.Demonstrate</a:t>
            </a:r>
            <a:r>
              <a:rPr lang="en-US" sz="2400" b="1" dirty="0"/>
              <a:t> the successful registration of a new student record into the system.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00B0F0"/>
                </a:solidFill>
              </a:rPr>
              <a:t>Demonstrate Meaningful Scenario:</a:t>
            </a:r>
          </a:p>
          <a:p>
            <a:pPr marL="0" indent="0">
              <a:buNone/>
            </a:pPr>
            <a:r>
              <a:rPr lang="en-US" sz="2400" b="1" dirty="0"/>
              <a:t>Perform a standard attendance update using the 5% increment </a:t>
            </a:r>
            <a:r>
              <a:rPr lang="en-US" sz="2400" b="1" dirty="0" err="1"/>
              <a:t>logic.Show</a:t>
            </a:r>
            <a:r>
              <a:rPr lang="en-US" sz="2400" b="1" dirty="0"/>
              <a:t> the dynamic update and registration of the new attendance percentage for the specific student.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rgbClr val="00B0F0"/>
                </a:solidFill>
              </a:rPr>
              <a:t>Show Error Handling Case:</a:t>
            </a:r>
          </a:p>
          <a:p>
            <a:pPr marL="0" indent="0">
              <a:buNone/>
            </a:pPr>
            <a:r>
              <a:rPr lang="en-US" sz="2400" b="1" dirty="0"/>
              <a:t>Boundary Testing: Try to mark attendance for a student who is already at 100%.Demonstrate the system logic in preventing "overflow" data from invalidly increasing the percentage above 100.0%.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6838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75E2F-BDC3-644C-93E0-8622B24A7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68"/>
            <a:ext cx="10665542" cy="6007509"/>
          </a:xfrm>
          <a:ln w="76200">
            <a:solidFill>
              <a:srgbClr val="FFC000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sz="9600" dirty="0">
                <a:latin typeface="Arial Rounded MT Bold" panose="020F0704030504030204" pitchFamily="34" charset="0"/>
              </a:rPr>
              <a:t>THANK</a:t>
            </a:r>
          </a:p>
          <a:p>
            <a:pPr marL="0" indent="0" algn="ctr">
              <a:buNone/>
            </a:pPr>
            <a:r>
              <a:rPr lang="en-US" sz="9600" dirty="0">
                <a:latin typeface="Arial Rounded MT Bold" panose="020F0704030504030204" pitchFamily="34" charset="0"/>
              </a:rPr>
              <a:t> YOU !!</a:t>
            </a:r>
            <a:endParaRPr lang="en-IN" sz="9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10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</TotalTime>
  <Words>676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Rounded MT Bold</vt:lpstr>
      <vt:lpstr>Calibri</vt:lpstr>
      <vt:lpstr>Calibri Light</vt:lpstr>
      <vt:lpstr>Consolas</vt:lpstr>
      <vt:lpstr>Office Theme</vt:lpstr>
      <vt:lpstr>PROJECT TITLE - Student Attendance Management System PROBLEM STATEMENT- Manual attendance marking is inefficient, prone to human error, and difficult to track over long periods. This system provides a digital, Object-Oriented solution to automate record-keeping and ensure data integrity. TARGET USERS – Faculty Members: For marking daily attendance and managing student records. Academic Administrators: For generating attendance reports and monitoring student eligibility.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Aheli Bhaumik</dc:creator>
  <cp:lastModifiedBy>Aheli Bhaumik</cp:lastModifiedBy>
  <cp:revision>1</cp:revision>
  <dcterms:created xsi:type="dcterms:W3CDTF">2026-03-29T05:33:25Z</dcterms:created>
  <dcterms:modified xsi:type="dcterms:W3CDTF">2026-03-29T07:41:41Z</dcterms:modified>
</cp:coreProperties>
</file>